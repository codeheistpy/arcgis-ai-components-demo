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120640" cy="512064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73152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371600"/>
            <a:ext cx="1051560" cy="10515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164500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maps, for free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31546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Building an ArcGIS AI Components Demo App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Vite + React + TypeScript template for the AI components (beta) in the ArcGIS Maps SDK for JavaScript 5.0 — putting an assistant beside a web map over your own hosted feature layer.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out-of-the-box agents</a:t>
            </a:r>
            <a:pPr indent="0" marL="0">
              <a:buNone/>
            </a:pPr>
            <a:r>
              <a:rPr lang="en-US" sz="130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Phase 2: custom LangGraph 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idea: AI on top of the spatial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well-modeled hosted feature layer unlocks a natural-language interface with no extra data work — the assistant queries the same layer that drives your dashboard.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71016" y="2468880"/>
            <a:ext cx="1005840" cy="10058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2534" y="273039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pipeline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your metric and shape the data however you like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310896" cy="31089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2900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19709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614" y="2730398"/>
            <a:ext cx="482803" cy="48280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1188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a hosted feature layer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3364992"/>
            <a:ext cx="310896" cy="3108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5508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12317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4" y="2730398"/>
            <a:ext cx="482803" cy="48280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9224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53796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+ embeddings; the agent's semantic index</a:t>
            </a:r>
            <a:endParaRPr lang="en-US" sz="11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688" y="3364992"/>
            <a:ext cx="310896" cy="31089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28116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10049256" y="246888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0774" y="2730398"/>
            <a:ext cx="482803" cy="482803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41832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</a:t>
            </a:r>
            <a:endParaRPr lang="en-US" sz="1500" dirty="0"/>
          </a:p>
        </p:txBody>
      </p:sp>
      <p:sp>
        <p:nvSpPr>
          <p:cNvPr id="26" name="Text 17"/>
          <p:cNvSpPr/>
          <p:nvPr/>
        </p:nvSpPr>
        <p:spPr>
          <a:xfrm>
            <a:off x="946404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&lt;arcgis-assistant&gt; chat beside the map</a:t>
            </a:r>
            <a:endParaRPr lang="en-US" sz="1150" dirty="0"/>
          </a:p>
        </p:txBody>
      </p:sp>
      <p:sp>
        <p:nvSpPr>
          <p:cNvPr id="27" name="Text 18"/>
          <p:cNvSpPr/>
          <p:nvPr/>
        </p:nvSpPr>
        <p:spPr>
          <a:xfrm>
            <a:off x="502920" y="5212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 </a:t>
            </a:r>
            <a:pPr algn="ct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and the assistant read the same feature layer. The conversational interface comes </a:t>
            </a:r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for free.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GIS side comes first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 comes from ArcGIS Online configuration, not app code. Do both — in order — before you touch the app.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 — Populate metadata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Layer: a meaningful name + a description of its purpose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descriptive aliases AND descriptions (the layer item's Data → Fields)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reason over this — cryptic field names lead to wrong answers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10312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23289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 — Generate embeddings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item → Settings → Manage AI vector embeddings → Generate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semantic index of layer titles + field metadata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AFTER Step A; re-generate after any metadata/schema change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521208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metadata first, then embed.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the easy 20% — this GIS prep is the 80% that decides answer quality.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stack — and why each piece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6304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143" y="1619951"/>
            <a:ext cx="289682" cy="289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4475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+ TypeScript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0" y="1426464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can't run from CDN — bundler required from day one, even for Phase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30428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2395728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43" y="2552639"/>
            <a:ext cx="289682" cy="28968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377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@arcgis/ai-components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0" y="2359152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&lt;arcgis-assistant&gt; + the OOB agents. Web components only — there is NO React-wrapper package.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02920" y="323697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713232" y="3328416"/>
            <a:ext cx="603504" cy="60350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143" y="3485327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331012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@arcgis/map-components-react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5669280" y="3291840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(&lt;ArcgisMap&gt;) does have a React wrapper. All @arcgis/* pinned at 5.0.x.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02920" y="416966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9" name="Shape 14"/>
          <p:cNvSpPr/>
          <p:nvPr/>
        </p:nvSpPr>
        <p:spPr>
          <a:xfrm>
            <a:off x="713232" y="4261104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143" y="4418015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2428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— user auth (PKCE)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669280" y="4224528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calls are gated on the signed-in user's org. App auth has no user context and won't work.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510235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24" name="Shape 18"/>
          <p:cNvSpPr/>
          <p:nvPr/>
        </p:nvSpPr>
        <p:spPr>
          <a:xfrm>
            <a:off x="713232" y="5193792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43" y="535070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+ embeddings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5669280" y="5157216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layers through the web map's semantic index — generated upstream in AGO.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phases — ship the wow first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191749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OOB agents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public out-of-the-box agents: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· data-exploration · help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web map, runs queries / stats / filters / spatial intersects.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exec wow, none of the LangGraph.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69164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191749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89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custom agent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portfolio-reasoning agent</a:t>
            </a:r>
            <a:endParaRPr lang="en-US" sz="1400" dirty="0"/>
          </a:p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measured OOB gaps: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(GROUP BY)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correct-direction cross-layer queries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ranking, what-if, exec summaries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it in 10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0" y="566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WALKTHROUGH.md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3624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615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prereqs first — web map, embeddings, OAuth, org settings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2768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615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Vite + React + TS; scenarios/ folder from day one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1912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15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real versions — all @arcgis/* at 5.0.x; no ai-components-react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1056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15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elements — defineCustomElements() from each /loader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0200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615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AI web-component tags in vite-env.d.ts (no React wrappers)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3624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2259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assistant layout; set referenceElement to the real &lt;arcgis-map&gt;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22768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2259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AuthGate (named-user OAuth) + ErrorBoundary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31912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2259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config + prompts; copy stays out of components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0" y="41056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02259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 + npm run dev → localhost:5173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09360" y="50200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02259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force decompositions that reconcile before you trust it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Register the app: OAuth credentials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595360" y="566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DEV-OAUTH-CREDENTIALS.md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app signs users in with a Client ID from ArcGIS Online — one-time, no code. (The no-code Data Explorer path skips this.)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556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 → Content → New item → Developer credentials → OAuth credentials (user auth)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688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245059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redirect URL: http://localhost:5173  (add your deployed origin later)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182112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182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316382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Client ID — no client secret needed (PKCE for single-page apps)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953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80160" y="38770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it in .env.local → VITE_ARCGIS_OAUTH_APP_ID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480060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00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Creator user type or higher.  </a:t>
            </a:r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USER authentication, not app auth — the assistant's AI calls are gated on the signed-in user.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Connecting users: SAML vs built-in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 the same OAuth 2.0 user-auth flow and the same app code — the only lever is the portal URL.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account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ArcGIS Online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in directly on the ArcGIS sign-in page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password policy applies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Username, e.g. jsmith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65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10312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 / org-specific login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your identity provider (IdP)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to your IdP to sign in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called "enterprise logins"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carries the org-key suffix: jsmith@ORG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5120640"/>
            <a:ext cx="11201400" cy="960120"/>
          </a:xfrm>
          <a:prstGeom prst="roundRect">
            <a:avLst>
              <a:gd name="adj" fmla="val 7619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is VITE_PORTAL_URL: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www.arcgis.com (generic sign-in)  vs  https://&lt;org-key&gt;.maps.arcgis.com (targets your org → routes SAML members to your IdP).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ways to ship it: code vs no-code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prepared web map, two front ends — the no-code path is for GIS users without developer skills.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— JavaScript SDK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30175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repo: Vite + React + TypeScript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UI, OAuth, your branding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Phase 2 custom agent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65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0574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— Instant Apps Data Explorer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83680" y="30175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template, assistant wired in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welcome message + sample questions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&amp; share from ArcGIS Online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493776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build on the same Activity #1 prep:  </a:t>
            </a:r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metadata → vector embeddings. Going no-code does not skip the GIS work.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 up Data Explorer (no code)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686800" y="566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doc.arcgis.com → Instant Apps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prepared web map to a shared app — no developer tools.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18488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184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160020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the web map: field metadata → generate embeddings (item Settings, or in the app config)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68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23500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ArcGIS Instant Apps from your web map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1181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3099816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Data Explorer (beta) template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867912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679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80160" y="3849624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welcome message, up to 5 sample questions, a help panel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617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80160" y="4599432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(auto-saves); check tablet &amp; mobile via the Views menu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367528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367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80160" y="534924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Publish, then share (owner / organization / everyone) → Launch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Gotchas that cost us a 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392" y="1767352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don't auto-register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58952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5.x is Lumina-based. Bare imports do nothing — call defineCustomElements() or you get "Custom element not found."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98264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54296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736" y="1767352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95544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ai-components-react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654296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components ship as raw web components only. Declare the tags in vite-env.d.ts; set props imperatively via refs.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293608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49640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5080" y="1767352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390888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504 ≠ CORS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549640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error looks like CORS but is a 504 timeout. Wide-schema reference layers trigger it; narrow ones succeed.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02920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58952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92" y="4190512"/>
            <a:ext cx="342351" cy="34235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413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758952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OOB agent submits national polygons as a spatial filter → 413. Fix: state-scope the prompt or pre-compute the attribute.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98264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54296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736" y="4190512"/>
            <a:ext cx="342351" cy="34235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95544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lies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654296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"List fields" returned two contradictory lists in one turn. Verify schema via AGO Data → Fields — never the assistant.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293608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49640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5080" y="4190512"/>
            <a:ext cx="342351" cy="34235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390888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don't infer</a:t>
            </a:r>
            <a:endParaRPr lang="en-US" sz="1450" dirty="0"/>
          </a:p>
        </p:txBody>
      </p:sp>
      <p:sp>
        <p:nvSpPr>
          <p:cNvPr id="32" name="Text 24"/>
          <p:cNvSpPr/>
          <p:nvPr/>
        </p:nvSpPr>
        <p:spPr>
          <a:xfrm>
            <a:off x="8549640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Filenames in dist/ aren't docs. We mounted a non-existent agent on a guess. Confirm against developers.arcgis.com.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Prompt engineering: what the OOB agent can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EAF4E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rgbClr val="2A9D6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18361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— demo these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filters  ("show the high-priority records")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stats  ("average metric for a group")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Multi-attribute combos  (filter on two fields)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region-scoped cross-layer intersects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Pointed, single-subject questions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BEDE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731520" cy="731520"/>
          </a:xfrm>
          <a:prstGeom prst="ellipse">
            <a:avLst/>
          </a:prstGeom>
          <a:solidFill>
            <a:srgbClr val="C24A4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155" y="183611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/ degrades — keep out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 ("list fields") — hallucinates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— silently degrades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cross-layer  — 413 error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sweeps  (vague, unscoped questions)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· forecasts · email · user location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demo run sheet — prompt shapes that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these with prompts you've verified against your data. Build from simple to the strongest hook.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842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9280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me the &lt;high-priority&gt; &lt;records&gt;."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508760" y="228600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Opener — single-attribute filter. Verify the count is stable.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862072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0632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971800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"Average &lt;metric&gt; for &lt;one category&gt;?"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336499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stat. (Don't ask it to COMPARE two categories live.)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941064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1422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42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5079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&lt;high-priority&gt; &lt;records&gt; also &lt;2nd condition&gt;?"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508760" y="444398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Centerpiece — a multi-attribute insight with a clear takeaway.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5020056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5221224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29784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&lt;records&gt; in &lt;region&gt; intersect &lt;layer&gt;?"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508760" y="552297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reveal — must stay region-scoped (else 413).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754880" cy="475488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9235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74520" y="777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Guidelines to expedite the next build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02536"/>
            <a:ext cx="310896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upstream prep first.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OAuth are the long pole — they gate all app code.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60904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6243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docs, not filenames.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every element/version/API against developers.arcgis.com.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1927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2826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narrow-schema reference layers.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composite-index layers 504 the embedding pipeline.</a:t>
            </a:r>
            <a:endParaRPr lang="en-US" sz="15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77640"/>
            <a:ext cx="310896" cy="310896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371600" y="39410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pointed, data-querying prompts.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demo schema introspection; force results that reconcile.</a:t>
            </a:r>
            <a:endParaRPr lang="en-US" sz="15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636008"/>
            <a:ext cx="310896" cy="310896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371600" y="45994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reasoning gaps as Phase 2.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query-direction are agent-shaped, not layer-shaped.</a:t>
            </a:r>
            <a:endParaRPr lang="en-US" sz="1500" dirty="0"/>
          </a:p>
        </p:txBody>
      </p:sp>
      <p:sp>
        <p:nvSpPr>
          <p:cNvPr id="16" name="Shape 8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3315C"/>
          </a:solidFill>
          <a:ln/>
        </p:spPr>
      </p:sp>
      <p:sp>
        <p:nvSpPr>
          <p:cNvPr id="17" name="Text 9"/>
          <p:cNvSpPr/>
          <p:nvPr/>
        </p:nvSpPr>
        <p:spPr>
          <a:xfrm>
            <a:off x="109728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next: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(build)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LESSONS-LEARNED.md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(why)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(present)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(full context)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ArcGIS AI Components Demo App</dc:title>
  <dc:subject>PptxGenJS Presentation</dc:subject>
  <dc:creator>ArcGIS AI Components Demo</dc:creator>
  <cp:lastModifiedBy>ArcGIS AI Components Demo</cp:lastModifiedBy>
  <cp:revision>1</cp:revision>
  <dcterms:created xsi:type="dcterms:W3CDTF">2026-06-29T21:49:29Z</dcterms:created>
  <dcterms:modified xsi:type="dcterms:W3CDTF">2026-06-29T21:49:29Z</dcterms:modified>
</cp:coreProperties>
</file>