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645920"/>
            <a:ext cx="5120640" cy="5120640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731520"/>
            <a:ext cx="3291840" cy="329184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371600"/>
            <a:ext cx="1051560" cy="10515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646" y="1645006"/>
            <a:ext cx="504749" cy="5047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maps, for free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" y="315468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Building an ArcGIS AI Components Demo App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822960" y="45720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Vite + React + TypeScript template for the AI components (beta) in the ArcGIS Maps SDK for JavaScript 5.0 — putting an assistant beside a web map over your own hosted feature layer.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out-of-the-box agents</a:t>
            </a:r>
            <a:pPr indent="0" marL="0">
              <a:buNone/>
            </a:pPr>
            <a:r>
              <a:rPr lang="en-US" sz="1300" dirty="0">
                <a:solidFill>
                  <a:srgbClr val="5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Phase 2: custom LangGraph agent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idea: AI on top of the spatial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well-modeled hosted feature layer unlocks a natural-language interface with no extra data work — the assistant queries the same layer that drives your dashboard.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71016" y="2468880"/>
            <a:ext cx="1005840" cy="100584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2534" y="273039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pipeline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your metric and shape the data however you like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310896" cy="31089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2900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197096" y="246888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8614" y="2730398"/>
            <a:ext cx="482803" cy="48280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6616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Online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361188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Publishes a hosted feature layer</a:t>
            </a:r>
            <a:endParaRPr lang="en-US" sz="11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7608" y="3364992"/>
            <a:ext cx="310896" cy="31089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5508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123176" y="246888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4694" y="2730398"/>
            <a:ext cx="482803" cy="48280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49224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Map</a:t>
            </a:r>
            <a:endParaRPr lang="en-US" sz="1500" dirty="0"/>
          </a:p>
        </p:txBody>
      </p:sp>
      <p:sp>
        <p:nvSpPr>
          <p:cNvPr id="20" name="Text 13"/>
          <p:cNvSpPr/>
          <p:nvPr/>
        </p:nvSpPr>
        <p:spPr>
          <a:xfrm>
            <a:off x="653796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+ embeddings; the agent's semantic index</a:t>
            </a:r>
            <a:endParaRPr lang="en-US" sz="115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3688" y="3364992"/>
            <a:ext cx="310896" cy="310896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28116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10049256" y="2468880"/>
            <a:ext cx="1005840" cy="10058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0774" y="2730398"/>
            <a:ext cx="482803" cy="482803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41832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App</a:t>
            </a:r>
            <a:endParaRPr lang="en-US" sz="1500" dirty="0"/>
          </a:p>
        </p:txBody>
      </p:sp>
      <p:sp>
        <p:nvSpPr>
          <p:cNvPr id="26" name="Text 17"/>
          <p:cNvSpPr/>
          <p:nvPr/>
        </p:nvSpPr>
        <p:spPr>
          <a:xfrm>
            <a:off x="946404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&lt;arcgis-assistant&gt; chat beside the map</a:t>
            </a:r>
            <a:endParaRPr lang="en-US" sz="1150" dirty="0"/>
          </a:p>
        </p:txBody>
      </p:sp>
      <p:sp>
        <p:nvSpPr>
          <p:cNvPr id="27" name="Text 18"/>
          <p:cNvSpPr/>
          <p:nvPr/>
        </p:nvSpPr>
        <p:spPr>
          <a:xfrm>
            <a:off x="502920" y="5212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payoff:  </a:t>
            </a:r>
            <a:pPr algn="ctr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and the assistant read the same feature layer. The conversational interface comes </a:t>
            </a:r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for free.</a:t>
            </a:r>
            <a:endParaRPr lang="en-US" sz="1500" dirty="0"/>
          </a:p>
        </p:txBody>
      </p:sp>
      <p:sp>
        <p:nvSpPr>
          <p:cNvPr id="28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9" name="Text 2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GIS side comes first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quality comes from ArcGIS Online configuration, not app code. Do both — in order — before you touch the app.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3200400"/>
          </a:xfrm>
          <a:prstGeom prst="roundRect">
            <a:avLst>
              <a:gd name="adj" fmla="val 285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868680" cy="8686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32897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19456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A — Populate metadata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310896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Layer: a meaningful name + a description of its purpose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descriptive aliases AND descriptions (the layer item's Data → Fields)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reason over this — cryptic field names lead to wrong answers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486400" cy="3200400"/>
          </a:xfrm>
          <a:prstGeom prst="roundRect">
            <a:avLst>
              <a:gd name="adj" fmla="val 2857"/>
            </a:avLst>
          </a:prstGeom>
          <a:solidFill>
            <a:srgbClr val="F4F7FA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103120"/>
            <a:ext cx="868680" cy="86868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9537" y="232897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89520" y="219456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 — Generate embeddings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83680" y="310896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map item → Settings → Manage AI vector embeddings → Generate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 semantic index of layer titles + field metadata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AFTER Step A; re-generate after any metadata/schema change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521208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212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metadata first, then embed.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is the easy 20% — this GIS prep is the 80% that decides answer quality.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stack — and why each piece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463040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143" y="1619951"/>
            <a:ext cx="289682" cy="2896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44475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React + TypeScript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0" y="1426464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agents can't run from CDN — bundler required from day one, even for Phase 1.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2304288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9" name="Shape 6"/>
          <p:cNvSpPr/>
          <p:nvPr/>
        </p:nvSpPr>
        <p:spPr>
          <a:xfrm>
            <a:off x="713232" y="2395728"/>
            <a:ext cx="603504" cy="60350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143" y="2552639"/>
            <a:ext cx="289682" cy="28968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3774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@arcgis/ai-components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0" y="2359152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&lt;arcgis-assistant&gt; + the OOB agents. Web components only — there is NO React-wrapper package.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02920" y="3236976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713232" y="3328416"/>
            <a:ext cx="603504" cy="60350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143" y="3485327"/>
            <a:ext cx="289682" cy="28968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331012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@arcgis/map-components-react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5669280" y="3291840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(&lt;ArcgisMap&gt;) does have a React wrapper. All @arcgis/* pinned at 5.0.x.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02920" y="4169664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19" name="Shape 14"/>
          <p:cNvSpPr/>
          <p:nvPr/>
        </p:nvSpPr>
        <p:spPr>
          <a:xfrm>
            <a:off x="713232" y="4261104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143" y="4418015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424281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 — user auth (PKCE)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5669280" y="4224528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calls are gated on the signed-in user's org. App auth has no user context and won't work.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02920" y="5102352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24" name="Shape 18"/>
          <p:cNvSpPr/>
          <p:nvPr/>
        </p:nvSpPr>
        <p:spPr>
          <a:xfrm>
            <a:off x="713232" y="5193792"/>
            <a:ext cx="603504" cy="60350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43" y="5350703"/>
            <a:ext cx="289682" cy="28968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8760" y="5175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map + embeddings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5669280" y="5157216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discovers layers through the web map's semantic index — generated upstream in AGO.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Two phases — ship the wow first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0B2545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691640"/>
            <a:ext cx="868680" cy="86868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1917497"/>
            <a:ext cx="416966" cy="4169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74520" y="178308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OOB agents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274320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public out-of-the-box agents:</a:t>
            </a:r>
            <a:endParaRPr lang="en-US" sz="1400" dirty="0"/>
          </a:p>
          <a:p>
            <a:pPr indent="0" marL="0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· data-exploration · help</a:t>
            </a:r>
            <a:endParaRPr lang="en-US" sz="1400" dirty="0"/>
          </a:p>
          <a:p>
            <a:pPr indent="0" marL="0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web map, runs queries / stats / filters / spatial intersects.</a:t>
            </a:r>
            <a:endParaRPr lang="en-US" sz="1400" dirty="0"/>
          </a:p>
          <a:p>
            <a:pPr indent="0" marL="0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exec wow, none of the LangGraph.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0" y="1691640"/>
            <a:ext cx="868680" cy="8686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9537" y="1917497"/>
            <a:ext cx="416966" cy="41696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589520" y="178308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custom agent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83680" y="274320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portfolio-reasoning agent</a:t>
            </a:r>
            <a:endParaRPr lang="en-US" sz="1400" dirty="0"/>
          </a:p>
          <a:p>
            <a:pPr indent="0" marL="0">
              <a:lnSpc>
                <a:spcPts val="22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measured OOB gaps: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comparison (GROUP BY)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correct-direction cross-layer queries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ranking, what-if, exec summaries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Build it in 10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72400" y="5669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in WALKTHROUGH.md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3624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362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6152" y="13258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prereqs first — web map, embeddings, OAuth, org settings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2768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16152" y="22402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Vite + React + TS; scenarios/ folder from day one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1912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91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16152" y="31546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real versions — all @arcgis/* at 5.0.x; no ai-components-react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1056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105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16152" y="40690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elements — defineCustomElements() from each /loader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50200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5020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16152" y="49834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AI web-component tags in vite-env.d.ts (no React wrappers)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13624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362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022592" y="13258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+ assistant layout; set referenceElement to the real &lt;arcgis-map&gt;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309360" y="22768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22592" y="22402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AuthGate (named-user OAuth) + ErrorBoundary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09360" y="31912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3191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22592" y="31546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config + prompts; copy stays out of components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309360" y="41056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9" name="Text 27"/>
          <p:cNvSpPr/>
          <p:nvPr/>
        </p:nvSpPr>
        <p:spPr>
          <a:xfrm>
            <a:off x="6309360" y="4105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022592" y="40690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vars + npm run dev → localhost:5173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309360" y="50200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5020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022592" y="49834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force decompositions that reconcile before you trust it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Gotchas that cost us a day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58952" y="158191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392" y="1767352"/>
            <a:ext cx="342351" cy="3423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don't auto-register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58952" y="235000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5.x is Lumina-based. Bare imports do nothing — call defineCustomElements() or you get "Custom element not found."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98264" y="1325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54296" y="158191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736" y="1767352"/>
            <a:ext cx="342351" cy="34235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95544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ai-components-react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654296" y="235000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components ship as raw web components only. Declare the tags in vite-env.d.ts; set props imperatively via refs.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293608" y="1325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549640" y="158191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5080" y="1767352"/>
            <a:ext cx="342351" cy="34235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390888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504 ≠ CORS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8549640" y="235000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error looks like CORS but is a 504 timeout. Wide-schema reference layers trigger it; narrow ones succeed.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02920" y="374904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58952" y="400507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392" y="4190512"/>
            <a:ext cx="342351" cy="34235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00200" y="4023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Cross-layer 413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758952" y="477316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OOB agent submits national polygons as a spatial filter → 413. Fix: state-scope the prompt or pre-compute the attribute.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398264" y="374904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654296" y="400507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9736" y="4190512"/>
            <a:ext cx="342351" cy="34235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495544" y="4023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introspection lies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4654296" y="477316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"List fields" returned two contradictory lists in one turn. Verify schema via AGO Data → Fields — never the assistant.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8293608" y="374904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549640" y="400507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5080" y="4190512"/>
            <a:ext cx="342351" cy="342351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390888" y="4023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Verify, don't infer</a:t>
            </a:r>
            <a:endParaRPr lang="en-US" sz="1450" dirty="0"/>
          </a:p>
        </p:txBody>
      </p:sp>
      <p:sp>
        <p:nvSpPr>
          <p:cNvPr id="32" name="Text 24"/>
          <p:cNvSpPr/>
          <p:nvPr/>
        </p:nvSpPr>
        <p:spPr>
          <a:xfrm>
            <a:off x="8549640" y="477316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Filenames in dist/ aren't docs. We mounted a non-existent agent on a guess. Confirm against developers.arcgis.com.</a:t>
            </a:r>
            <a:endParaRPr lang="en-US" sz="1150" dirty="0"/>
          </a:p>
        </p:txBody>
      </p:sp>
      <p:sp>
        <p:nvSpPr>
          <p:cNvPr id="33" name="Text 25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Prompt engineering: what the OOB agent can do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EAF4E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731520" cy="731520"/>
          </a:xfrm>
          <a:prstGeom prst="ellipse">
            <a:avLst/>
          </a:prstGeom>
          <a:solidFill>
            <a:srgbClr val="2A9D6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155" y="1836115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645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— demo these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6517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filters  ("show the high-priority records")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Single-group stats  ("average metric for a group")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Multi-attribute combos  (filter on two fields)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/ region-scoped cross-layer intersects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Pointed, single-subject questions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FBEDE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645920"/>
            <a:ext cx="731520" cy="731520"/>
          </a:xfrm>
          <a:prstGeom prst="ellipse">
            <a:avLst/>
          </a:prstGeom>
          <a:solidFill>
            <a:srgbClr val="C24A4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8155" y="183611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06640" y="1645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/ degrades — keep out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583680" y="26517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introspection  ("list fields") — hallucinates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comparison — silently degrades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cross-layer  — 413 error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sweeps  (vague, unscoped questions)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· forecasts · email · user location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demo run sheet — prompt shapes that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these with prompts you've verified against your data. Build from simple to the strongest hook.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842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84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892808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"Show me the &lt;high-priority&gt; &lt;records&gt;."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508760" y="228600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Opener — single-attribute filter. Verify the count is stable.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862072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306324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971800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"Average &lt;metric&gt; for &lt;one category&gt;?"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508760" y="336499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Single-group stat. (Don't ask it to COMPARE two categories live.)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941064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4142232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142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4050792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&lt;high-priority&gt; &lt;records&gt; also &lt;2nd condition&gt;?"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508760" y="4443984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Centerpiece — a multi-attribute insight with a clear takeaway.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5020056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5221224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2212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08760" y="5129784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&lt;records&gt; in &lt;region&gt; intersect &lt;layer&gt;?"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508760" y="5522976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Cross-layer reveal — must stay region-scoped (else 413).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754880" cy="4754880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85800"/>
            <a:ext cx="914400" cy="9144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92354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74520" y="7772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Guidelines to expedite the next build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02536"/>
            <a:ext cx="310896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9659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upstream prep first.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+ OAuth are the long pole — they gate all app code.</a:t>
            </a:r>
            <a:endParaRPr lang="en-US" sz="15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60904"/>
            <a:ext cx="310896" cy="31089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26243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against docs, not filenames.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every element/version/API against developers.arcgis.com.</a:t>
            </a:r>
            <a:endParaRPr lang="en-US" sz="15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19272"/>
            <a:ext cx="310896" cy="310896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71600" y="328269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narrow-schema reference layers.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composite-index layers 504 the embedding pipeline.</a:t>
            </a:r>
            <a:endParaRPr lang="en-US" sz="15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977640"/>
            <a:ext cx="310896" cy="310896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371600" y="394106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pointed, data-querying prompts.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demo schema introspection; force results that reconcile.</a:t>
            </a:r>
            <a:endParaRPr lang="en-US" sz="15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636008"/>
            <a:ext cx="310896" cy="310896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1371600" y="459943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reasoning gaps as Phase 2.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&amp; query-direction are agent-shaped, not layer-shaped.</a:t>
            </a:r>
            <a:endParaRPr lang="en-US" sz="1500" dirty="0"/>
          </a:p>
        </p:txBody>
      </p:sp>
      <p:sp>
        <p:nvSpPr>
          <p:cNvPr id="16" name="Shape 8"/>
          <p:cNvSpPr/>
          <p:nvPr/>
        </p:nvSpPr>
        <p:spPr>
          <a:xfrm>
            <a:off x="822960" y="544068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13315C"/>
          </a:solidFill>
          <a:ln/>
        </p:spPr>
      </p:sp>
      <p:sp>
        <p:nvSpPr>
          <p:cNvPr id="17" name="Text 9"/>
          <p:cNvSpPr/>
          <p:nvPr/>
        </p:nvSpPr>
        <p:spPr>
          <a:xfrm>
            <a:off x="1097280" y="5669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next: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WALKTHROUGH.md</a:t>
            </a:r>
            <a:pPr indent="0" marL="0"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(build)  ·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LESSONS-LEARNED.md</a:t>
            </a:r>
            <a:pPr indent="0" marL="0"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(why)  ·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DEMO.md</a:t>
            </a:r>
            <a:pPr indent="0" marL="0"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(present)  ·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pPr indent="0" marL="0"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(full context)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ArcGIS AI Components Demo App</dc:title>
  <dc:subject>PptxGenJS Presentation</dc:subject>
  <dc:creator>ArcGIS AI Components Demo</dc:creator>
  <cp:lastModifiedBy>ArcGIS AI Components Demo</cp:lastModifiedBy>
  <cp:revision>1</cp:revision>
  <dcterms:created xsi:type="dcterms:W3CDTF">2026-06-29T15:22:05Z</dcterms:created>
  <dcterms:modified xsi:type="dcterms:W3CDTF">2026-06-29T15:22:05Z</dcterms:modified>
</cp:coreProperties>
</file>