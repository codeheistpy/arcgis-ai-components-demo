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645920"/>
            <a:ext cx="5120640" cy="5120640"/>
          </a:xfrm>
          <a:prstGeom prst="ellipse">
            <a:avLst/>
          </a:prstGeom>
          <a:solidFill>
            <a:srgbClr val="13315C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731520"/>
            <a:ext cx="3291840" cy="3291840"/>
          </a:xfrm>
          <a:prstGeom prst="ellipse">
            <a:avLst/>
          </a:prstGeom>
          <a:solidFill>
            <a:srgbClr val="1C7293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1371600"/>
            <a:ext cx="1051560" cy="105156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646" y="1645006"/>
            <a:ext cx="504749" cy="50474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maps, for free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77240" y="315468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Building an ArcGIS AI Components Demo App</a:t>
            </a:r>
            <a:endParaRPr lang="en-US" sz="4200" dirty="0"/>
          </a:p>
        </p:txBody>
      </p:sp>
      <p:sp>
        <p:nvSpPr>
          <p:cNvPr id="8" name="Text 5"/>
          <p:cNvSpPr/>
          <p:nvPr/>
        </p:nvSpPr>
        <p:spPr>
          <a:xfrm>
            <a:off x="822960" y="457200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reproducible Vite + React + TypeScript template for the AI components (beta) in the ArcGIS Maps SDK for JavaScript 5.0 — putting an assistant beside a web map over your own hosted feature layer.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2960" y="5623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out-of-the-box agents</a:t>
            </a:r>
            <a:pPr indent="0" marL="0">
              <a:buNone/>
            </a:pPr>
            <a:r>
              <a:rPr lang="en-US" sz="1300" dirty="0">
                <a:solidFill>
                  <a:srgbClr val="5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Phase 2: custom LangGraph agent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idea: AI on top of the spatial stack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78992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well-modeled hosted feature layer unlocks a natural-language interface with no extra data work — the assistant queries the same layer that drives your dashboard.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2542032" cy="2743200"/>
          </a:xfrm>
          <a:prstGeom prst="roundRect">
            <a:avLst>
              <a:gd name="adj" fmla="val 3597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71016" y="2468880"/>
            <a:ext cx="1005840" cy="1005840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2534" y="2730398"/>
            <a:ext cx="482803" cy="4828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3611880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pipeline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023360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your metric and shape the data however you like</a:t>
            </a:r>
            <a:endParaRPr lang="en-US" sz="11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3364992"/>
            <a:ext cx="310896" cy="310896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429000" y="2148840"/>
            <a:ext cx="2542032" cy="2743200"/>
          </a:xfrm>
          <a:prstGeom prst="roundRect">
            <a:avLst>
              <a:gd name="adj" fmla="val 3597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197096" y="2468880"/>
            <a:ext cx="1005840" cy="10058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8614" y="2730398"/>
            <a:ext cx="482803" cy="482803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566160" y="3611880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Online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3611880" y="4023360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Publishes a hosted feature layer</a:t>
            </a:r>
            <a:endParaRPr lang="en-US" sz="115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7608" y="3364992"/>
            <a:ext cx="310896" cy="310896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55080" y="2148840"/>
            <a:ext cx="2542032" cy="2743200"/>
          </a:xfrm>
          <a:prstGeom prst="roundRect">
            <a:avLst>
              <a:gd name="adj" fmla="val 3597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7123176" y="2468880"/>
            <a:ext cx="1005840" cy="10058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4694" y="2730398"/>
            <a:ext cx="482803" cy="482803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6492240" y="3611880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Map</a:t>
            </a:r>
            <a:endParaRPr lang="en-US" sz="1500" dirty="0"/>
          </a:p>
        </p:txBody>
      </p:sp>
      <p:sp>
        <p:nvSpPr>
          <p:cNvPr id="20" name="Text 13"/>
          <p:cNvSpPr/>
          <p:nvPr/>
        </p:nvSpPr>
        <p:spPr>
          <a:xfrm>
            <a:off x="6537960" y="4023360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+ embeddings; the agent's semantic index</a:t>
            </a:r>
            <a:endParaRPr lang="en-US" sz="115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33688" y="3364992"/>
            <a:ext cx="310896" cy="310896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9281160" y="2148840"/>
            <a:ext cx="2542032" cy="2743200"/>
          </a:xfrm>
          <a:prstGeom prst="roundRect">
            <a:avLst>
              <a:gd name="adj" fmla="val 3597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5"/>
          <p:cNvSpPr/>
          <p:nvPr/>
        </p:nvSpPr>
        <p:spPr>
          <a:xfrm>
            <a:off x="10049256" y="2468880"/>
            <a:ext cx="1005840" cy="100584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10774" y="2730398"/>
            <a:ext cx="482803" cy="482803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9418320" y="3611880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App</a:t>
            </a:r>
            <a:endParaRPr lang="en-US" sz="1500" dirty="0"/>
          </a:p>
        </p:txBody>
      </p:sp>
      <p:sp>
        <p:nvSpPr>
          <p:cNvPr id="26" name="Text 17"/>
          <p:cNvSpPr/>
          <p:nvPr/>
        </p:nvSpPr>
        <p:spPr>
          <a:xfrm>
            <a:off x="9464040" y="4023360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&lt;arcgis-assistant&gt; chat beside the map</a:t>
            </a:r>
            <a:endParaRPr lang="en-US" sz="1150" dirty="0"/>
          </a:p>
        </p:txBody>
      </p:sp>
      <p:sp>
        <p:nvSpPr>
          <p:cNvPr id="27" name="Text 18"/>
          <p:cNvSpPr/>
          <p:nvPr/>
        </p:nvSpPr>
        <p:spPr>
          <a:xfrm>
            <a:off x="502920" y="5212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payoff:  </a:t>
            </a:r>
            <a:pPr algn="ctr"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and the assistant read the same feature layer. The conversational interface comes </a:t>
            </a:r>
            <a:pPr algn="ctr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for free.</a:t>
            </a:r>
            <a:endParaRPr lang="en-US" sz="1500" dirty="0"/>
          </a:p>
        </p:txBody>
      </p:sp>
      <p:sp>
        <p:nvSpPr>
          <p:cNvPr id="28" name="Text 19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29" name="Text 2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GIS side comes first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7899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quality comes from ArcGIS Online configuration, not app code. Do both — in order — before you touch the app.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486400" cy="3200400"/>
          </a:xfrm>
          <a:prstGeom prst="roundRect">
            <a:avLst>
              <a:gd name="adj" fmla="val 2857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03120"/>
            <a:ext cx="868680" cy="8686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4537" y="2328977"/>
            <a:ext cx="416966" cy="41696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219456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A — Populate metadata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3108960"/>
            <a:ext cx="4800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Layer: a meaningful name + a description of its purpose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Fields: descriptive aliases AND descriptions (the layer item's Data → Fields)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reason over this — cryptic field names lead to wrong answers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17920" y="1783080"/>
            <a:ext cx="5486400" cy="3200400"/>
          </a:xfrm>
          <a:prstGeom prst="roundRect">
            <a:avLst>
              <a:gd name="adj" fmla="val 2857"/>
            </a:avLst>
          </a:prstGeom>
          <a:solidFill>
            <a:srgbClr val="F4F7FA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0" y="2103120"/>
            <a:ext cx="868680" cy="86868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9537" y="2328977"/>
            <a:ext cx="416966" cy="41696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89520" y="219456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B — Generate embeddings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583680" y="3108960"/>
            <a:ext cx="4800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map item → Settings → Manage AI vector embeddings → Generate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a semantic index of layer titles + field metadata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AFTER Step A; re-generate after any metadata/schema change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02920" y="5212080"/>
            <a:ext cx="11201400" cy="914400"/>
          </a:xfrm>
          <a:prstGeom prst="roundRect">
            <a:avLst>
              <a:gd name="adj" fmla="val 8000"/>
            </a:avLst>
          </a:prstGeom>
          <a:solidFill>
            <a:srgbClr val="0B2545"/>
          </a:solidFill>
          <a:ln/>
        </p:spPr>
      </p:sp>
      <p:sp>
        <p:nvSpPr>
          <p:cNvPr id="15" name="Text 11"/>
          <p:cNvSpPr/>
          <p:nvPr/>
        </p:nvSpPr>
        <p:spPr>
          <a:xfrm>
            <a:off x="868680" y="52120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matters: metadata first, then embed.  </a:t>
            </a:r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is the easy 20% — this GIS prep is the 80% that decides answer quality.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stack — and why each piece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F4F7FA"/>
          </a:solidFill>
          <a:ln/>
        </p:spPr>
      </p:sp>
      <p:sp>
        <p:nvSpPr>
          <p:cNvPr id="4" name="Shape 2"/>
          <p:cNvSpPr/>
          <p:nvPr/>
        </p:nvSpPr>
        <p:spPr>
          <a:xfrm>
            <a:off x="713232" y="1463040"/>
            <a:ext cx="603504" cy="603504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0143" y="1619951"/>
            <a:ext cx="289682" cy="28968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444752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+ React + TypeScript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669280" y="1426464"/>
            <a:ext cx="58978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agents can't run from CDN — bundler required from day one, even for Phase 1.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02920" y="2304288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F4F7FA"/>
          </a:solidFill>
          <a:ln/>
        </p:spPr>
      </p:sp>
      <p:sp>
        <p:nvSpPr>
          <p:cNvPr id="9" name="Shape 6"/>
          <p:cNvSpPr/>
          <p:nvPr/>
        </p:nvSpPr>
        <p:spPr>
          <a:xfrm>
            <a:off x="713232" y="2395728"/>
            <a:ext cx="603504" cy="603504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143" y="2552639"/>
            <a:ext cx="289682" cy="28968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08760" y="23774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@arcgis/ai-components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5669280" y="2359152"/>
            <a:ext cx="58978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Ships &lt;arcgis-assistant&gt; + the OOB agents. Web components only — there is NO React-wrapper package.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02920" y="3236976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F4F7FA"/>
          </a:solidFill>
          <a:ln/>
        </p:spPr>
      </p:sp>
      <p:sp>
        <p:nvSpPr>
          <p:cNvPr id="14" name="Shape 10"/>
          <p:cNvSpPr/>
          <p:nvPr/>
        </p:nvSpPr>
        <p:spPr>
          <a:xfrm>
            <a:off x="713232" y="3328416"/>
            <a:ext cx="603504" cy="603504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143" y="3485327"/>
            <a:ext cx="289682" cy="28968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508760" y="3310128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@arcgis/map-components-react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5669280" y="3291840"/>
            <a:ext cx="58978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 (&lt;ArcgisMap&gt;) does have a React wrapper. All @arcgis/* pinned at 5.0.x.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502920" y="4169664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F4F7FA"/>
          </a:solidFill>
          <a:ln/>
        </p:spPr>
      </p:sp>
      <p:sp>
        <p:nvSpPr>
          <p:cNvPr id="19" name="Shape 14"/>
          <p:cNvSpPr/>
          <p:nvPr/>
        </p:nvSpPr>
        <p:spPr>
          <a:xfrm>
            <a:off x="713232" y="4261104"/>
            <a:ext cx="603504" cy="603504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143" y="4418015"/>
            <a:ext cx="289682" cy="28968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508760" y="4242816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2.0 — user auth (PKCE)</a:t>
            </a:r>
            <a:endParaRPr lang="en-US" sz="1500" dirty="0"/>
          </a:p>
        </p:txBody>
      </p:sp>
      <p:sp>
        <p:nvSpPr>
          <p:cNvPr id="22" name="Text 16"/>
          <p:cNvSpPr/>
          <p:nvPr/>
        </p:nvSpPr>
        <p:spPr>
          <a:xfrm>
            <a:off x="5669280" y="4224528"/>
            <a:ext cx="58978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calls are gated on the signed-in user's org. App auth has no user context and won't work.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502920" y="5102352"/>
            <a:ext cx="11201400" cy="786384"/>
          </a:xfrm>
          <a:prstGeom prst="roundRect">
            <a:avLst>
              <a:gd name="adj" fmla="val 9302"/>
            </a:avLst>
          </a:prstGeom>
          <a:solidFill>
            <a:srgbClr val="F4F7FA"/>
          </a:solidFill>
          <a:ln/>
        </p:spPr>
      </p:sp>
      <p:sp>
        <p:nvSpPr>
          <p:cNvPr id="24" name="Shape 18"/>
          <p:cNvSpPr/>
          <p:nvPr/>
        </p:nvSpPr>
        <p:spPr>
          <a:xfrm>
            <a:off x="713232" y="5193792"/>
            <a:ext cx="603504" cy="603504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143" y="5350703"/>
            <a:ext cx="289682" cy="28968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508760" y="5175504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map + embeddings</a:t>
            </a:r>
            <a:endParaRPr lang="en-US" sz="1500" dirty="0"/>
          </a:p>
        </p:txBody>
      </p:sp>
      <p:sp>
        <p:nvSpPr>
          <p:cNvPr id="27" name="Text 20"/>
          <p:cNvSpPr/>
          <p:nvPr/>
        </p:nvSpPr>
        <p:spPr>
          <a:xfrm>
            <a:off x="5669280" y="5157216"/>
            <a:ext cx="58978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discovers layers through the web map's semantic index — generated upstream in AGO.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29" name="Text 22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Two phases — ship the wow first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5486400" cy="4572000"/>
          </a:xfrm>
          <a:prstGeom prst="roundRect">
            <a:avLst>
              <a:gd name="adj" fmla="val 2000"/>
            </a:avLst>
          </a:prstGeom>
          <a:solidFill>
            <a:srgbClr val="0B2545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691640"/>
            <a:ext cx="868680" cy="86868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4537" y="1917497"/>
            <a:ext cx="416966" cy="41696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874520" y="178308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OOB agents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868680" y="2743200"/>
            <a:ext cx="4754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5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public out-of-the-box agents:</a:t>
            </a:r>
            <a:endParaRPr lang="en-US" sz="1400" dirty="0"/>
          </a:p>
          <a:p>
            <a:pPr indent="0" marL="0">
              <a:lnSpc>
                <a:spcPts val="24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· data-exploration · help</a:t>
            </a:r>
            <a:endParaRPr lang="en-US" sz="1400" dirty="0"/>
          </a:p>
          <a:p>
            <a:pPr indent="0" marL="0">
              <a:lnSpc>
                <a:spcPts val="24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the web map, runs queries / stats / filters / spatial intersects.</a:t>
            </a:r>
            <a:endParaRPr lang="en-US" sz="1400" dirty="0"/>
          </a:p>
          <a:p>
            <a:pPr indent="0" marL="0">
              <a:lnSpc>
                <a:spcPts val="2400"/>
              </a:lnSpc>
              <a:spcAft>
                <a:spcPts val="1000"/>
              </a:spcAft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 exec wow, none of the LangGraph.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217920" y="1371600"/>
            <a:ext cx="5486400" cy="4572000"/>
          </a:xfrm>
          <a:prstGeom prst="roundRect">
            <a:avLst>
              <a:gd name="adj" fmla="val 2000"/>
            </a:avLst>
          </a:prstGeom>
          <a:solidFill>
            <a:srgbClr val="F4F7FA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83680" y="1691640"/>
            <a:ext cx="868680" cy="8686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9537" y="1917497"/>
            <a:ext cx="416966" cy="41696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589520" y="178308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custom agent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6583680" y="2743200"/>
            <a:ext cx="4754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portfolio-reasoning agent</a:t>
            </a:r>
            <a:endParaRPr lang="en-US" sz="1400" dirty="0"/>
          </a:p>
          <a:p>
            <a:pPr indent="0" marL="0">
              <a:lnSpc>
                <a:spcPts val="22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the measured OOB gaps:</a:t>
            </a:r>
            <a:endParaRPr lang="en-US" sz="1400" dirty="0"/>
          </a:p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cross-category comparison (GROUP BY)</a:t>
            </a:r>
            <a:endParaRPr lang="en-US" sz="1400" dirty="0"/>
          </a:p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correct-direction cross-layer queries</a:t>
            </a:r>
            <a:endParaRPr lang="en-US" sz="1400" dirty="0"/>
          </a:p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ranking, what-if, exec summaries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Build it in 10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772400" y="56692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 in WALKTHROUGH.md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1362456"/>
            <a:ext cx="566928" cy="566928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3624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16152" y="13258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prereqs first — web map, embeddings, OAuth, org settings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27685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2768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16152" y="22402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 Vite + React + TS; scenarios/ folder from day one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3191256"/>
            <a:ext cx="566928" cy="566928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1912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16152" y="31546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 real versions — all @arcgis/* at 5.0.x; no ai-components-react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410565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1056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16152" y="40690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elements — defineCustomElements() from each /loader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5020056"/>
            <a:ext cx="566928" cy="566928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50200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16152" y="49834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 AI web-component tags in vite-env.d.ts (no React wrappers)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09360" y="136245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6309360" y="13624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022592" y="13258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+ assistant layout; set referenceElement to the real &lt;arcgis-map&gt;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309360" y="2276856"/>
            <a:ext cx="566928" cy="566928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23" name="Text 21"/>
          <p:cNvSpPr/>
          <p:nvPr/>
        </p:nvSpPr>
        <p:spPr>
          <a:xfrm>
            <a:off x="6309360" y="22768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022592" y="22402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AuthGate (named-user OAuth) + ErrorBoundary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309360" y="319125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6309360" y="31912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022592" y="31546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config + prompts; copy stays out of components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309360" y="4105656"/>
            <a:ext cx="566928" cy="566928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29" name="Text 27"/>
          <p:cNvSpPr/>
          <p:nvPr/>
        </p:nvSpPr>
        <p:spPr>
          <a:xfrm>
            <a:off x="6309360" y="41056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7022592" y="40690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 vars + npm run dev → localhost:5173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309360" y="502005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2" name="Text 30"/>
          <p:cNvSpPr/>
          <p:nvPr/>
        </p:nvSpPr>
        <p:spPr>
          <a:xfrm>
            <a:off x="6309360" y="50200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7022592" y="49834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Verify: force decompositions that reconcile before you trust it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Connecting users: SAML vs built-in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7899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use the same OAuth 2.0 user-auth flow and the same app code — the only lever is the portal URL.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486400" cy="3108960"/>
          </a:xfrm>
          <a:prstGeom prst="roundRect">
            <a:avLst>
              <a:gd name="adj" fmla="val 2941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057400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271370"/>
            <a:ext cx="395021" cy="3950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21031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account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2971800"/>
            <a:ext cx="4800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live in ArcGIS Online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 in directly on the ArcGIS sign-in page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 password policy applies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Username, e.g. jsmith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17920" y="1783080"/>
            <a:ext cx="5486400" cy="3108960"/>
          </a:xfrm>
          <a:prstGeom prst="roundRect">
            <a:avLst>
              <a:gd name="adj" fmla="val 2941"/>
            </a:avLst>
          </a:prstGeom>
          <a:solidFill>
            <a:srgbClr val="F4F7FA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0" y="2057400"/>
            <a:ext cx="822960" cy="82296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7650" y="2271370"/>
            <a:ext cx="395021" cy="39502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98080" y="2103120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 / org-specific login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583680" y="2971800"/>
            <a:ext cx="4800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live in your identity provider (IdP)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Redirected to your IdP to sign in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Formerly called "enterprise logins"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Username carries the org-key suffix: jsmith@ORG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02920" y="5120640"/>
            <a:ext cx="11201400" cy="960120"/>
          </a:xfrm>
          <a:prstGeom prst="roundRect">
            <a:avLst>
              <a:gd name="adj" fmla="val 7619"/>
            </a:avLst>
          </a:prstGeom>
          <a:solidFill>
            <a:srgbClr val="0B2545"/>
          </a:solidFill>
          <a:ln/>
        </p:spPr>
      </p:sp>
      <p:sp>
        <p:nvSpPr>
          <p:cNvPr id="15" name="Text 11"/>
          <p:cNvSpPr/>
          <p:nvPr/>
        </p:nvSpPr>
        <p:spPr>
          <a:xfrm>
            <a:off x="868680" y="512064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lever is VITE_PORTAL_URL: 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www.arcgis.com (generic sign-in)  vs  https://&lt;org-key&gt;.maps.arcgis.com (targets your org → routes SAML members to your IdP).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Two ways to ship it: code vs no-code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7899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prepared web map, two front ends — the no-code path is for GIS users without developer skills.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486400" cy="2926080"/>
          </a:xfrm>
          <a:prstGeom prst="roundRect">
            <a:avLst>
              <a:gd name="adj" fmla="val 3125"/>
            </a:avLst>
          </a:prstGeom>
          <a:solidFill>
            <a:srgbClr val="0B2545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057400"/>
            <a:ext cx="822960" cy="82296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271370"/>
            <a:ext cx="395021" cy="3950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21031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— JavaScript SDK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68680" y="301752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repo: Vite + React + TypeScript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UI, OAuth, your branding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Phase 2 custom agent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17920" y="1783080"/>
            <a:ext cx="5486400" cy="2926080"/>
          </a:xfrm>
          <a:prstGeom prst="roundRect">
            <a:avLst>
              <a:gd name="adj" fmla="val 3125"/>
            </a:avLst>
          </a:prstGeom>
          <a:solidFill>
            <a:srgbClr val="F4F7FA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0" y="2057400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7650" y="2271370"/>
            <a:ext cx="395021" cy="39502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98080" y="205740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— Instant Apps Data Explorer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6583680" y="301752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Preset template, assistant wired in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welcome message + sample questions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&amp; share from ArcGIS Online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02920" y="4937760"/>
            <a:ext cx="11201400" cy="914400"/>
          </a:xfrm>
          <a:prstGeom prst="roundRect">
            <a:avLst>
              <a:gd name="adj" fmla="val 8000"/>
            </a:avLst>
          </a:prstGeom>
          <a:solidFill>
            <a:srgbClr val="0B2545"/>
          </a:solidFill>
          <a:ln/>
        </p:spPr>
      </p:sp>
      <p:sp>
        <p:nvSpPr>
          <p:cNvPr id="15" name="Text 11"/>
          <p:cNvSpPr/>
          <p:nvPr/>
        </p:nvSpPr>
        <p:spPr>
          <a:xfrm>
            <a:off x="868680" y="49377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build on the same Activity #1 prep:  </a:t>
            </a:r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metadata → vector embeddings. Going no-code does not skip the GIS work.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Set up Data Explorer (no code)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686800" y="5669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doc.arcgis.com → Instant Apps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107899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prepared web map to a shared app — no developer tools.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18488"/>
            <a:ext cx="530352" cy="530352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184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280160" y="160020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 the web map: field metadata → generate embeddings (item Settings, or in the app config)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368296"/>
            <a:ext cx="530352" cy="5303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36829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280160" y="2350008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ArcGIS Instant Apps from your web map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118104"/>
            <a:ext cx="530352" cy="530352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11810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280160" y="3099816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Data Explorer (beta) template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867912"/>
            <a:ext cx="530352" cy="5303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8679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280160" y="3849624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Configure: welcome message, up to 5 sample questions, a help panel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4617720"/>
            <a:ext cx="530352" cy="530352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461772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280160" y="4599432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(auto-saves); check tablet &amp; mobile via the Views menu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5367528"/>
            <a:ext cx="530352" cy="5303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36752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280160" y="534924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Publish, then share (owner / organization / everyone) → Launch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Gotchas that cost us a day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325880"/>
            <a:ext cx="3657600" cy="2148840"/>
          </a:xfrm>
          <a:prstGeom prst="roundRect">
            <a:avLst>
              <a:gd name="adj" fmla="val 3404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58952" y="1581912"/>
            <a:ext cx="713232" cy="713232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4392" y="1767352"/>
            <a:ext cx="342351" cy="34235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6002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Elements don't auto-register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758952" y="2350008"/>
            <a:ext cx="3145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5.x is Lumina-based. Bare imports do nothing — call defineCustomElements() or you get "Custom element not found."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398264" y="1325880"/>
            <a:ext cx="3657600" cy="2148840"/>
          </a:xfrm>
          <a:prstGeom prst="roundRect">
            <a:avLst>
              <a:gd name="adj" fmla="val 3404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54296" y="1581912"/>
            <a:ext cx="713232" cy="713232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9736" y="1767352"/>
            <a:ext cx="342351" cy="34235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495544" y="16002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ai-components-react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4654296" y="2350008"/>
            <a:ext cx="3145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components ship as raw web components only. Declare the tags in vite-env.d.ts; set props imperatively via refs.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8293608" y="1325880"/>
            <a:ext cx="3657600" cy="2148840"/>
          </a:xfrm>
          <a:prstGeom prst="roundRect">
            <a:avLst>
              <a:gd name="adj" fmla="val 3404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549640" y="1581912"/>
            <a:ext cx="713232" cy="713232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5080" y="1767352"/>
            <a:ext cx="342351" cy="342351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390888" y="16002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504 ≠ CORS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8549640" y="2350008"/>
            <a:ext cx="3145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error looks like CORS but is a 504 timeout. Wide-schema reference layers trigger it; narrow ones succeed.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02920" y="3749040"/>
            <a:ext cx="3657600" cy="2148840"/>
          </a:xfrm>
          <a:prstGeom prst="roundRect">
            <a:avLst>
              <a:gd name="adj" fmla="val 3404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58952" y="4005072"/>
            <a:ext cx="713232" cy="713232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392" y="4190512"/>
            <a:ext cx="342351" cy="342351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600200" y="40233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Cross-layer 413</a:t>
            </a:r>
            <a:endParaRPr lang="en-US" sz="1450" dirty="0"/>
          </a:p>
        </p:txBody>
      </p:sp>
      <p:sp>
        <p:nvSpPr>
          <p:cNvPr id="22" name="Text 16"/>
          <p:cNvSpPr/>
          <p:nvPr/>
        </p:nvSpPr>
        <p:spPr>
          <a:xfrm>
            <a:off x="758952" y="4773168"/>
            <a:ext cx="3145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OOB agent submits national polygons as a spatial filter → 413. Fix: state-scope the prompt or pre-compute the attribute.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4398264" y="3749040"/>
            <a:ext cx="3657600" cy="2148840"/>
          </a:xfrm>
          <a:prstGeom prst="roundRect">
            <a:avLst>
              <a:gd name="adj" fmla="val 3404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4654296" y="4005072"/>
            <a:ext cx="713232" cy="713232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9736" y="4190512"/>
            <a:ext cx="342351" cy="342351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5495544" y="40233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introspection lies</a:t>
            </a:r>
            <a:endParaRPr lang="en-US" sz="1450" dirty="0"/>
          </a:p>
        </p:txBody>
      </p:sp>
      <p:sp>
        <p:nvSpPr>
          <p:cNvPr id="27" name="Text 20"/>
          <p:cNvSpPr/>
          <p:nvPr/>
        </p:nvSpPr>
        <p:spPr>
          <a:xfrm>
            <a:off x="4654296" y="4773168"/>
            <a:ext cx="3145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"List fields" returned two contradictory lists in one turn. Verify schema via AGO Data → Fields — never the assistant.</a:t>
            </a:r>
            <a:endParaRPr lang="en-US" sz="1150" dirty="0"/>
          </a:p>
        </p:txBody>
      </p:sp>
      <p:sp>
        <p:nvSpPr>
          <p:cNvPr id="28" name="Shape 21"/>
          <p:cNvSpPr/>
          <p:nvPr/>
        </p:nvSpPr>
        <p:spPr>
          <a:xfrm>
            <a:off x="8293608" y="3749040"/>
            <a:ext cx="3657600" cy="2148840"/>
          </a:xfrm>
          <a:prstGeom prst="roundRect">
            <a:avLst>
              <a:gd name="adj" fmla="val 3404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8549640" y="4005072"/>
            <a:ext cx="713232" cy="713232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5080" y="4190512"/>
            <a:ext cx="342351" cy="342351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9390888" y="40233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Verify, don't infer</a:t>
            </a:r>
            <a:endParaRPr lang="en-US" sz="1450" dirty="0"/>
          </a:p>
        </p:txBody>
      </p:sp>
      <p:sp>
        <p:nvSpPr>
          <p:cNvPr id="32" name="Text 24"/>
          <p:cNvSpPr/>
          <p:nvPr/>
        </p:nvSpPr>
        <p:spPr>
          <a:xfrm>
            <a:off x="8549640" y="4773168"/>
            <a:ext cx="3145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Filenames in dist/ aren't docs. We mounted a non-existent agent on a guess. Confirm against developers.arcgis.com.</a:t>
            </a:r>
            <a:endParaRPr lang="en-US" sz="1150" dirty="0"/>
          </a:p>
        </p:txBody>
      </p:sp>
      <p:sp>
        <p:nvSpPr>
          <p:cNvPr id="33" name="Text 25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34" name="Text 26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Prompt engineering: what the OOB agent can do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5486400" cy="4572000"/>
          </a:xfrm>
          <a:prstGeom prst="roundRect">
            <a:avLst>
              <a:gd name="adj" fmla="val 2000"/>
            </a:avLst>
          </a:prstGeom>
          <a:solidFill>
            <a:srgbClr val="EAF4EF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645920"/>
            <a:ext cx="731520" cy="731520"/>
          </a:xfrm>
          <a:prstGeom prst="ellipse">
            <a:avLst/>
          </a:prstGeom>
          <a:solidFill>
            <a:srgbClr val="2A9D6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3155" y="1836115"/>
            <a:ext cx="351130" cy="35113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91640" y="164592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— demo these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68680" y="26517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 filters  ("show the high-priority records")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Single-group stats  ("average metric for a group")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Multi-attribute combos  (filter on two fields)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/ region-scoped cross-layer intersects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Pointed, single-subject questions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17920" y="1371600"/>
            <a:ext cx="5486400" cy="4572000"/>
          </a:xfrm>
          <a:prstGeom prst="roundRect">
            <a:avLst>
              <a:gd name="adj" fmla="val 2000"/>
            </a:avLst>
          </a:prstGeom>
          <a:solidFill>
            <a:srgbClr val="FBEDEC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37960" y="1645920"/>
            <a:ext cx="731520" cy="731520"/>
          </a:xfrm>
          <a:prstGeom prst="ellipse">
            <a:avLst/>
          </a:prstGeom>
          <a:solidFill>
            <a:srgbClr val="C24A45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8155" y="1836115"/>
            <a:ext cx="351130" cy="35113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406640" y="164592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24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/ degrades — keep out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6583680" y="26517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introspection  ("list fields") — hallucinates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Cross-category comparison — silently degrades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Unbounded cross-layer  — 413 error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 sweeps  (vague, unscoped questions)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 · forecasts · email · user location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demo run sheet — prompt shapes that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7899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these with prompts you've verified against your data. Build from simple to the strongest hook.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11201400" cy="932688"/>
          </a:xfrm>
          <a:prstGeom prst="roundRect">
            <a:avLst>
              <a:gd name="adj" fmla="val 7843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9842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9842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1892808"/>
            <a:ext cx="10058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"Show me the &lt;high-priority&gt; &lt;records&gt;."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508760" y="2286000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Opener — single-attribute filter. Verify the count is stable.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2862072"/>
            <a:ext cx="11201400" cy="932688"/>
          </a:xfrm>
          <a:prstGeom prst="roundRect">
            <a:avLst>
              <a:gd name="adj" fmla="val 7843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306324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3063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08760" y="2971800"/>
            <a:ext cx="10058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"Average &lt;metric&gt; for &lt;one category&gt;?"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508760" y="3364992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Single-group stat. (Don't ask it to COMPARE two categories live.)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941064"/>
            <a:ext cx="11201400" cy="932688"/>
          </a:xfrm>
          <a:prstGeom prst="roundRect">
            <a:avLst>
              <a:gd name="adj" fmla="val 7843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4142232"/>
            <a:ext cx="566928" cy="56692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41422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08760" y="4050792"/>
            <a:ext cx="10058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"Which &lt;high-priority&gt; &lt;records&gt; also &lt;2nd condition&gt;?"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508760" y="4443984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Centerpiece — a multi-attribute insight with a clear takeaway.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5020056"/>
            <a:ext cx="11201400" cy="932688"/>
          </a:xfrm>
          <a:prstGeom prst="roundRect">
            <a:avLst>
              <a:gd name="adj" fmla="val 7843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31520" y="5221224"/>
            <a:ext cx="566928" cy="566928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522122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508760" y="5129784"/>
            <a:ext cx="10058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"Which &lt;records&gt; in &lt;region&gt; intersect &lt;layer&gt;?"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508760" y="5522976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Cross-layer reveal — must stay region-scoped (else 413).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023360"/>
            <a:ext cx="4754880" cy="4754880"/>
          </a:xfrm>
          <a:prstGeom prst="ellipse">
            <a:avLst/>
          </a:prstGeom>
          <a:solidFill>
            <a:srgbClr val="13315C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" y="685800"/>
            <a:ext cx="914400" cy="91440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923544"/>
            <a:ext cx="438912" cy="4389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874520" y="77724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Guidelines to expedite the next build</a:t>
            </a:r>
            <a:endParaRPr lang="en-US" sz="28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002536"/>
            <a:ext cx="310896" cy="31089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71600" y="196596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the upstream prep first.  </a:t>
            </a:r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+ OAuth are the long pole — they gate all app code.</a:t>
            </a:r>
            <a:endParaRPr lang="en-US" sz="15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660904"/>
            <a:ext cx="310896" cy="310896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371600" y="262432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against docs, not filenames.  </a:t>
            </a:r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every element/version/API against developers.arcgis.com.</a:t>
            </a:r>
            <a:endParaRPr lang="en-US" sz="15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319272"/>
            <a:ext cx="310896" cy="310896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371600" y="328269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narrow-schema reference layers.  </a:t>
            </a:r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composite-index layers 504 the embedding pipeline.</a:t>
            </a:r>
            <a:endParaRPr lang="en-US" sz="150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977640"/>
            <a:ext cx="310896" cy="310896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371600" y="3941064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pointed, data-querying prompts.  </a:t>
            </a:r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demo schema introspection; force results that reconcile.</a:t>
            </a:r>
            <a:endParaRPr lang="en-US" sz="1500" dirty="0"/>
          </a:p>
        </p:txBody>
      </p:sp>
      <p:pic>
        <p:nvPicPr>
          <p:cNvPr id="1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636008"/>
            <a:ext cx="310896" cy="310896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1371600" y="459943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reasoning gaps as Phase 2.  </a:t>
            </a:r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&amp; query-direction are agent-shaped, not layer-shaped.</a:t>
            </a:r>
            <a:endParaRPr lang="en-US" sz="1500" dirty="0"/>
          </a:p>
        </p:txBody>
      </p:sp>
      <p:sp>
        <p:nvSpPr>
          <p:cNvPr id="16" name="Shape 8"/>
          <p:cNvSpPr/>
          <p:nvPr/>
        </p:nvSpPr>
        <p:spPr>
          <a:xfrm>
            <a:off x="822960" y="5440680"/>
            <a:ext cx="10515600" cy="914400"/>
          </a:xfrm>
          <a:prstGeom prst="roundRect">
            <a:avLst>
              <a:gd name="adj" fmla="val 8000"/>
            </a:avLst>
          </a:prstGeom>
          <a:solidFill>
            <a:srgbClr val="13315C"/>
          </a:solidFill>
          <a:ln/>
        </p:spPr>
      </p:sp>
      <p:sp>
        <p:nvSpPr>
          <p:cNvPr id="17" name="Text 9"/>
          <p:cNvSpPr/>
          <p:nvPr/>
        </p:nvSpPr>
        <p:spPr>
          <a:xfrm>
            <a:off x="1097280" y="5669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next: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WALKTHROUGH.md</a:t>
            </a:r>
            <a:pPr indent="0" marL="0">
              <a:buNone/>
            </a:pPr>
            <a:r>
              <a:rPr lang="en-US" sz="135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(build)  ·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LESSONS-LEARNED.md</a:t>
            </a:r>
            <a:pPr indent="0" marL="0">
              <a:buNone/>
            </a:pPr>
            <a:r>
              <a:rPr lang="en-US" sz="135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(why)  ·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DEMO.md</a:t>
            </a:r>
            <a:pPr indent="0" marL="0">
              <a:buNone/>
            </a:pPr>
            <a:r>
              <a:rPr lang="en-US" sz="135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(present)  ·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</a:t>
            </a:r>
            <a:pPr indent="0" marL="0">
              <a:buNone/>
            </a:pPr>
            <a:r>
              <a:rPr lang="en-US" sz="135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(full context)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an ArcGIS AI Components Demo App</dc:title>
  <dc:subject>PptxGenJS Presentation</dc:subject>
  <dc:creator>ArcGIS AI Components Demo</dc:creator>
  <cp:lastModifiedBy>ArcGIS AI Components Demo</cp:lastModifiedBy>
  <cp:revision>1</cp:revision>
  <dcterms:created xsi:type="dcterms:W3CDTF">2026-06-29T20:46:56Z</dcterms:created>
  <dcterms:modified xsi:type="dcterms:W3CDTF">2026-06-29T20:46:56Z</dcterms:modified>
</cp:coreProperties>
</file>